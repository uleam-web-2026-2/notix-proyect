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932"/>
    <p:restoredTop sz="96197"/>
  </p:normalViewPr>
  <p:slideViewPr>
    <p:cSldViewPr snapToGrid="0" snapToObjects="1">
      <p:cViewPr>
        <p:scale>
          <a:sx n="143" d="100"/>
          <a:sy n="143" d="100"/>
        </p:scale>
        <p:origin x="1560" y="5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79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fija (dentro de los 45 s): «Nuestro negocio es [nombre]: vende [qué] a [quién] y cobra [cómo]. Se basa en [caso de Starter Story]. Un caso parecido que fracasó fue [nombre], y creemos que fue por [hipótesis].» Pregunta publicada: ¿De qué depende que su negocio gane dinero? Si eso falla, ¿qué pasa?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fija (dentro de los 45 s): «Nuestras restricciones son [1], [2] y [3]. La [número] cambió nuestro modelo: [agregamos o cambiamos tal estado, atributo o rol].» Pregunta publicada: Por la restricción [número], ¿qué cambió en su modelo y por qué?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fija (dentro de los 45 s): «Nuestro modelo tiene [número] entidades: [nómbrelas]. Un [A] tiene muchos [B]. El diagrama completo y los structs están en el enlace.» Pregunta publicada: ¿Por qué [X] es una entidad y no un atributo de [Y]? · Si tienen menos de seis entidades, borren la caja completa y suban las demás; el mínimo son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fija (dentro de los 45 s): «[Entidad] empieza en [estado inicial], pasa a [estado] cuando [hecho del negocio] y termina en [estado]. No se permite pasar de [x] a [y], porque [razón].» Pregunta publicada: ¿Qué pasaría en su negocio si alguien hiciera la transición prohibida? ¿Dónde se valida en el código?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fija (dentro de los 45 s): «Tenemos [número] endpoints para [número] pantallas. El rol [X] entra por [pantalla] y consume [endpoint]. Esta es la respuesta real de [endpoint], con código [200].» Pregunta publicada: La pantalla [nombre] necesita mostrar [dato]: ¿qué endpoint se lo da y qué devuelve exactamente?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runch.com/2017/01/09/atlassian-acquires-trell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1 y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3307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[número] · </a:t>
            </a:r>
            <a:r>
              <a:rPr lang="en-US" sz="11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García·García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al caso de Starter Story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Qué vende, a quién y cómo cobra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Cifra que declara el fundador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Caso de contraste con enlace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Hipótesis de fondo: modelo, costos o mercado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 las secciones 1 y 2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1 y 2: </a:t>
            </a:r>
            <a:r>
              <a:rPr lang="en-US" sz="100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000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00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/uleam-web-2026-2/</a:t>
            </a:r>
            <a:r>
              <a:rPr lang="en-US" sz="1000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Notix-Proyect</a:t>
            </a:r>
            <a:r>
              <a:rPr lang="en-US" sz="100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/blob/main/docs/hito1_ficha_del_negocio.md#1-negocio-de-referencia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Notix</a:t>
            </a:r>
            <a:r>
              <a:rPr lang="en-US" sz="11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notas visuales organizadas en tableros Kanban, dirigida a estudiantes, trabajadores y pequeños equipos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572768"/>
            <a:ext cx="5577840" cy="13716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0624" y="161798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de </a:t>
            </a:r>
            <a:r>
              <a:rPr lang="en-US" sz="1400" b="1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C" sz="1400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Trello</a:t>
            </a: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20624" y="1828800"/>
            <a:ext cx="5358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s-EC" sz="1250" dirty="0">
                <a:solidFill>
                  <a:srgbClr val="1F2328"/>
                </a:solidFill>
                <a:latin typeface="Mona Sans VF"/>
              </a:rPr>
              <a:t>SaaS de gestión de proyectos y tareas, basado en la metodología Kanban. Sirve a profesionales independientes y estudiantes, hasta departamentos de desarrollo en grandes corporaciones.</a:t>
            </a:r>
            <a:endParaRPr lang="en-US" sz="125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Cobra: </a:t>
            </a:r>
            <a:r>
              <a:rPr lang="es-EC" sz="1250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Utiliza un modelo free-premium.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>
              <a:spcAft>
                <a:spcPts val="400"/>
              </a:spcAft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https://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techcrunch.com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/2017/01/09/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-acquires-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5760" y="3063240"/>
            <a:ext cx="5577840" cy="13716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0624" y="303149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contraste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" y="3258313"/>
            <a:ext cx="5504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Wunderlist, </a:t>
            </a:r>
            <a:r>
              <a:rPr lang="es-EC" sz="1250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ofrecía una versión gratuita tan completa que desincentivaba la actualización.</a:t>
            </a:r>
            <a:endParaRPr lang="en-US" sz="125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https://techcrunch.com/2017/01/09/atlassian-acquires-trello/</a:t>
            </a:r>
            <a:endParaRPr lang="en-US" sz="125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C" sz="1250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A diferencia de Trello, que monetizó exitosamente el mercado empresarial (B2B) vendiendo seguridad y escalabilidad a equipos corporativos, Wunderlist nunca logró crear un puente sólido hacia el sector B2B.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al Ecuador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Tres restricciones locales concretas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Cada una con su efecto en el negocio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que cambió el modelo, y qué cambió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 la sección 3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3: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https://github.com/uleam-web-2026-2/Notix-Proyect/blob/main/docs/hito1_ficha_del_negocio.md#3-adaptaci%C3%B3n-al-ecuador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en el negocio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1490472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" y="1417320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r>
              <a:rPr lang="es-EC" sz="1250" dirty="0"/>
              <a:t>Verificar permisos de autorizaciones</a:t>
            </a:r>
          </a:p>
        </p:txBody>
      </p:sp>
      <p:sp>
        <p:nvSpPr>
          <p:cNvPr id="19" name="Text 16"/>
          <p:cNvSpPr txBox="1"/>
          <p:nvPr/>
        </p:nvSpPr>
        <p:spPr>
          <a:xfrm>
            <a:off x="3246120" y="14904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14721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no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controlarse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incurre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pone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65760" y="2148840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68680" y="2075688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2148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47472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Tener </a:t>
            </a:r>
            <a:r>
              <a:rPr lang="en-US" sz="1250" dirty="0" err="1"/>
              <a:t>en</a:t>
            </a:r>
            <a:r>
              <a:rPr lang="en-US" sz="1250" dirty="0"/>
              <a:t> </a:t>
            </a:r>
            <a:r>
              <a:rPr lang="en-US" sz="1250" dirty="0" err="1"/>
              <a:t>cuenta</a:t>
            </a:r>
            <a:r>
              <a:rPr lang="en-US" sz="1250" dirty="0"/>
              <a:t> las </a:t>
            </a:r>
            <a:r>
              <a:rPr lang="en-US" sz="1250" dirty="0" err="1"/>
              <a:t>configuraciones</a:t>
            </a:r>
            <a:r>
              <a:rPr lang="en-US" sz="1250" dirty="0"/>
              <a:t> de </a:t>
            </a:r>
            <a:r>
              <a:rPr lang="en-US" sz="1250" dirty="0" err="1"/>
              <a:t>privacidad</a:t>
            </a:r>
            <a:r>
              <a:rPr lang="en-US" sz="1250" dirty="0"/>
              <a:t> para no </a:t>
            </a:r>
            <a:r>
              <a:rPr lang="en-US" sz="1250" dirty="0" err="1"/>
              <a:t>exponer</a:t>
            </a:r>
            <a:r>
              <a:rPr lang="en-US" sz="1250" dirty="0"/>
              <a:t> </a:t>
            </a:r>
            <a:r>
              <a:rPr lang="en-US" sz="1250" dirty="0" err="1"/>
              <a:t>datos</a:t>
            </a:r>
            <a:r>
              <a:rPr lang="en-US" sz="1250" dirty="0"/>
              <a:t> </a:t>
            </a:r>
            <a:r>
              <a:rPr lang="en-US" sz="1250" dirty="0" err="1"/>
              <a:t>personales</a:t>
            </a:r>
            <a:r>
              <a:rPr lang="en-US" sz="1250" dirty="0"/>
              <a:t>.</a:t>
            </a:r>
          </a:p>
        </p:txBody>
      </p:sp>
      <p:sp>
        <p:nvSpPr>
          <p:cNvPr id="27" name="Shape 24"/>
          <p:cNvSpPr/>
          <p:nvPr/>
        </p:nvSpPr>
        <p:spPr>
          <a:xfrm>
            <a:off x="365760" y="2807208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68680" y="2734056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5840" y="2807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3246120" y="280720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3520440" y="2770811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que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tenerse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LOPDP (Art. 38 y 40) para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2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autorizados</a:t>
            </a: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65760" y="3474720"/>
            <a:ext cx="55778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D6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359359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</a:t>
            </a:r>
            <a:r>
              <a:rPr lang="en-US" sz="1250" b="1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la </a:t>
            </a:r>
            <a:r>
              <a:rPr lang="en-US" sz="1250" b="1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</a:t>
            </a: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y 2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3353F943-61F1-4489-B605-DC31C0D6F83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02919" y="3815577"/>
            <a:ext cx="5394959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419" altLang="es-419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agregó la entidad </a:t>
            </a:r>
            <a:r>
              <a:rPr kumimoji="0" lang="es-419" altLang="es-419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TableroCompartido</a:t>
            </a:r>
            <a:r>
              <a:rPr kumimoji="0" lang="es-419" altLang="es-419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atributos para el tipo de permiso (</a:t>
            </a:r>
            <a:r>
              <a:rPr kumimoji="0" lang="es-419" altLang="es-419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RolEnTablero</a:t>
            </a:r>
            <a:r>
              <a:rPr kumimoji="0" lang="es-419" altLang="es-419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y el estado de la vinculación (</a:t>
            </a:r>
            <a:r>
              <a:rPr kumimoji="0" lang="es-419" altLang="es-419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EstadoInvitacion</a:t>
            </a:r>
            <a:r>
              <a:rPr kumimoji="0" lang="es-419" altLang="es-419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permitiendo al </a:t>
            </a:r>
            <a:r>
              <a:rPr kumimoji="0" lang="es-419" altLang="es-419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backend</a:t>
            </a:r>
            <a:r>
              <a:rPr kumimoji="0" lang="es-419" altLang="es-419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validar el acceso explícito de cada usuario antes de mostrar o modificar notas</a:t>
            </a:r>
            <a:r>
              <a:rPr kumimoji="0" lang="es-419" altLang="es-419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C45184D2-780B-710B-9C75-6CEF2875955F}"/>
              </a:ext>
            </a:extLst>
          </p:cNvPr>
          <p:cNvSpPr txBox="1"/>
          <p:nvPr/>
        </p:nvSpPr>
        <p:spPr>
          <a:xfrm>
            <a:off x="5669280" y="320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[número] · </a:t>
            </a:r>
            <a:r>
              <a:rPr lang="en-US" sz="11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García·García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4 · los structs van en la ficha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Hasta seis entidades, con sus atributos clave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Relaciones con su cardinalidad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al diagrama completo del modelo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 la sección 4 de la ficha, donde están los structs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4: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https://github.com/uleam-web-2026-2/Notix-Proyect/blob/main/docs/hito1_ficha_del_negocio.md#4-modelo-de-datos  ·   </a:t>
            </a:r>
            <a:r>
              <a:rPr lang="en-US" sz="85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https://github.com/uleam-web-2026-2/Notix-Proyect/blob/main/docs/hito1_ficha_del_negocio.md#diagrama-del-modelo-completo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789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[número] entidades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Usuario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43891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4028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4028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1343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313432" y="1672971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hora</a:t>
            </a:r>
          </a:p>
          <a:p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8795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8795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2423159"/>
            <a:ext cx="1737360" cy="1143001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242316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8912" y="2423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" y="273405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de: pendiente, </a:t>
            </a:r>
            <a:r>
              <a:rPr lang="es-E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en_proceso</a:t>
            </a:r>
            <a:r>
              <a:rPr lang="es-E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completado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240280" y="2423160"/>
            <a:ext cx="1737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240280" y="242316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13432" y="2423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chemeClr val="bg1"/>
                </a:solidFill>
              </a:rPr>
              <a:t>TableroCompartido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2313432" y="273405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estado_invitacion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uno de:       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revocado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rol_en_tablero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uno de: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hora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0" y="2423160"/>
            <a:ext cx="1737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0" y="242316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87952" y="2423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187952" y="273405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900" dirty="0">
              <a:solidFill>
                <a:srgbClr val="1D24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hora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365760" y="37033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0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s-ES" sz="10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1—N Tablero · Tablero 1—N Columna · Columna 1—N Tarea · Usuario 1—N Tarea · Tablero 1—N </a:t>
            </a:r>
            <a:r>
              <a:rPr lang="es-ES" sz="10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TableroCompartido</a:t>
            </a:r>
            <a:r>
              <a:rPr lang="es-ES" sz="10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Usuario 1—N </a:t>
            </a:r>
            <a:r>
              <a:rPr lang="es-ES" sz="1050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TableroCompartido</a:t>
            </a:r>
            <a:r>
              <a:rPr lang="es-ES" sz="10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Tarea 1—N Comentario · Usuario 1—N Comentario</a:t>
            </a:r>
            <a:endParaRPr lang="en-US" sz="105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4DEDCB0-1E2F-5AAF-F049-92D4E94BEC05}"/>
              </a:ext>
            </a:extLst>
          </p:cNvPr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[número] · </a:t>
            </a:r>
            <a:r>
              <a:rPr lang="en-US" sz="11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García·García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Tres o más estados, con el inicial marcado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Tabla de transiciones con quién y con qué condición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Una transición prohibida y su razón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al diagrama de estados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 la sección 5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5: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https://github.com/uleam-web-2026-2/Notix-Proyect/blob/main/docs/hito1_ficha_del_negocio.md#5-m%C3%A1quina-de-estados   ·   Diagrama: https://github.com/uleam-web-2026-2/Notix-Proyect/blob/main/docs/hito1_ficha_del_negocio.md#diagrama-de-estados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78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[entidad]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146304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303020" y="1965960"/>
            <a:ext cx="0" cy="4572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394459" y="2057400"/>
            <a:ext cx="1272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42316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en_proceso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1303020" y="2926080"/>
            <a:ext cx="0" cy="4572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139446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1261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148840" y="3634740"/>
            <a:ext cx="201168" cy="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2350008" y="1714500"/>
            <a:ext cx="0" cy="192024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 flipH="1">
            <a:off x="2148840" y="1714500"/>
            <a:ext cx="201168" cy="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240280" y="2537460"/>
            <a:ext cx="21945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384498"/>
              </p:ext>
            </p:extLst>
          </p:nvPr>
        </p:nvGraphicFramePr>
        <p:xfrm>
          <a:off x="2592324" y="1113685"/>
          <a:ext cx="3525009" cy="1915668"/>
        </p:xfrm>
        <a:graphic>
          <a:graphicData uri="http://schemas.openxmlformats.org/drawingml/2006/table">
            <a:tbl>
              <a:tblPr/>
              <a:tblGrid>
                <a:gridCol w="661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 err="1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 err="1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en_proceso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Propietario o Colaborador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950" dirty="0">
                          <a:effectLst/>
                        </a:rPr>
                        <a:t>Iniciar la ejecución de la tarea asignada.</a:t>
                      </a:r>
                    </a:p>
                  </a:txBody>
                  <a:tcPr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en_proceso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pendiente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950" dirty="0">
                          <a:effectLst/>
                        </a:rPr>
                        <a:t>Propietario o Colaborador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950" dirty="0">
                          <a:effectLst/>
                        </a:rPr>
                        <a:t>Confirmar la finalización total del contenido de la tarea.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167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 err="1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 err="1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en_proceso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Propietario o Colaborador</a:t>
                      </a: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950" dirty="0"/>
                        <a:t>Reabrir la tarea por correcciones, cambios o revisión requerida.</a:t>
                      </a:r>
                    </a:p>
                  </a:txBody>
                  <a:tcPr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3017520" y="3081528"/>
            <a:ext cx="292608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5221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154680" y="32004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prohibida</a:t>
            </a:r>
            <a:endParaRPr lang="en-US" sz="1050" dirty="0"/>
          </a:p>
          <a:p>
            <a:pPr marL="0" indent="0">
              <a:buNone/>
            </a:pPr>
            <a:r>
              <a:rPr lang="es-ES" sz="10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pendiente no se puede pasar directamente a completado.</a:t>
            </a:r>
          </a:p>
          <a:p>
            <a:pPr marL="0" indent="0">
              <a:buNone/>
            </a:pPr>
            <a:r>
              <a:rPr lang="es-ES" sz="1050" dirty="0"/>
              <a:t>En la metodología Kanban, una tarea no puede considerarse finalizada sin haber pasado obligatoriamente por la fase de ejecución (</a:t>
            </a:r>
            <a:r>
              <a:rPr lang="es-ES" sz="1050" dirty="0" err="1"/>
              <a:t>en_proceso</a:t>
            </a:r>
            <a:r>
              <a:rPr lang="es-ES" sz="1050" dirty="0"/>
              <a:t>).</a:t>
            </a:r>
            <a:endParaRPr lang="en-US" sz="105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C20A958B-2BA6-27D6-4EAC-D6AF974B559A}"/>
              </a:ext>
            </a:extLst>
          </p:cNvPr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[número] · </a:t>
            </a:r>
            <a:r>
              <a:rPr lang="en-US" sz="11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García·García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 pantallas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6 y 7 · lo demás va en el addendum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Cuatro a seis endpoints, con verbo y ruta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 rol que llama a cada uno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pantalla que lo consume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Código cuando sale bien y cuando falla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Captura de una respuesta real con su código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Enlace a la sección 7 de la ficha y al addendum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6 y 7: </a:t>
            </a:r>
            <a:r>
              <a:rPr lang="en-US" sz="85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850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85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/uleam-web-2026-2/</a:t>
            </a:r>
            <a:r>
              <a:rPr lang="en-US" sz="850" dirty="0" err="1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Notix-Proyect</a:t>
            </a:r>
            <a:r>
              <a:rPr lang="en-US" sz="850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/blob/main/docs/hito1_ficha_del_negocio.md#7-mapa-de-endpoints-por-rol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Addendum: https://</a:t>
            </a:r>
            <a:r>
              <a:rPr lang="en-US" sz="85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/uleam-web-2026-2/</a:t>
            </a:r>
            <a:r>
              <a:rPr lang="en-US" sz="85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Notix-Proyect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/blob/main/docs/hito1_addendum.md#hito-1--addendum-</a:t>
            </a:r>
            <a:r>
              <a:rPr lang="en-US" sz="85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92555"/>
              </p:ext>
            </p:extLst>
          </p:nvPr>
        </p:nvGraphicFramePr>
        <p:xfrm>
          <a:off x="365760" y="881589"/>
          <a:ext cx="5577840" cy="239725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que lo consume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POST /tareas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>
                          <a:effectLst/>
                        </a:rPr>
                        <a:t>propietario, colaborador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Ventana Nueva Tarea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GET /tableros/[id]/tareas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>
                          <a:effectLst/>
                        </a:rPr>
                        <a:t>propietario, colaborador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Vista principal del Tablero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PATCH /tareas/[id]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>
                          <a:effectLst/>
                        </a:rPr>
                        <a:t>propietario, colaborador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Ventana Editar Tarea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403</a:t>
                      </a:r>
                      <a:endParaRPr lang="es-EC" sz="950" dirty="0"/>
                    </a:p>
                  </a:txBody>
                  <a:tcPr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PATCH /tareas/[id]/estado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>
                          <a:effectLst/>
                        </a:rPr>
                        <a:t>propietario, colaborador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Vista principal del Tablero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409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DELETE /tareas/[id]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propietario, colaborador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Botón Eliminar Tarea</a:t>
                      </a:r>
                    </a:p>
                  </a:txBody>
                  <a:tcPr marL="123825" marR="123825" marT="57150" marB="57150" anchor="ctr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o 204 no content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C" sz="950" dirty="0">
                          <a:effectLst/>
                        </a:rPr>
                        <a:t>403</a:t>
                      </a:r>
                      <a:endParaRPr lang="es-EC" sz="950" dirty="0"/>
                    </a:p>
                  </a:txBody>
                  <a:tcPr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65760" y="3224424"/>
            <a:ext cx="3200400" cy="1298359"/>
          </a:xfrm>
          <a:prstGeom prst="rect">
            <a:avLst/>
          </a:prstGeom>
          <a:solidFill>
            <a:srgbClr val="F3F4F6"/>
          </a:solidFill>
          <a:ln w="9525">
            <a:solidFill>
              <a:srgbClr val="BFC7D3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3749040" y="3398430"/>
            <a:ext cx="2194560" cy="103641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886200" y="3508158"/>
            <a:ext cx="1920240" cy="81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addendum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y estructura de carpetas · pruebas con su captura · variables de entorno · boceto de la pantalla principal · diagrama de secuencia.</a:t>
            </a:r>
            <a:endParaRPr lang="en-US" sz="10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E9E8275-9B0E-7364-FE09-6A39887AE5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54" b="19526"/>
          <a:stretch/>
        </p:blipFill>
        <p:spPr>
          <a:xfrm>
            <a:off x="693646" y="3249439"/>
            <a:ext cx="2685554" cy="1241431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B98721F6-7309-94DB-D9D1-D97D2C4C2977}"/>
              </a:ext>
            </a:extLst>
          </p:cNvPr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[número] · </a:t>
            </a:r>
            <a:r>
              <a:rPr lang="en-US" sz="1100" dirty="0" err="1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García·García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1609</Words>
  <Application>Microsoft Macintosh PowerPoint</Application>
  <PresentationFormat>Presentación en pantalla (16:9)</PresentationFormat>
  <Paragraphs>177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 Unicode MS</vt:lpstr>
      <vt:lpstr>Arial</vt:lpstr>
      <vt:lpstr>Calibri</vt:lpstr>
      <vt:lpstr>Mona Sans VF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 1 Servidor · Plantilla de diapositivas</dc:title>
  <dc:subject>PptxGenJS Presentation</dc:subject>
  <dc:creator>PptxGenJS</dc:creator>
  <cp:lastModifiedBy>familiapenarrieta3@gmail.com</cp:lastModifiedBy>
  <cp:revision>7</cp:revision>
  <dcterms:created xsi:type="dcterms:W3CDTF">2026-09-19T00:15:18Z</dcterms:created>
  <dcterms:modified xsi:type="dcterms:W3CDTF">2026-10-01T04:37:32Z</dcterms:modified>
</cp:coreProperties>
</file>
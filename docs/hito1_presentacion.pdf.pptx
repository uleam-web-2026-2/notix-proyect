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516" y="-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47913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Frase fija (dentro de los 45 s): «Nuestro negocio es [nombre]: vende [qué] a [quién] y cobra [cómo]. Se basa en [caso de Starter Story]. Un caso parecido que fracasó fue [nombre], y creemos que fue por [hipótesis].» Pregunta publicada: ¿De qué depende que su negocio gane dinero? Si eso falla, ¿qué pasa?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Frase fija (dentro de los 45 s): «Nuestras restricciones son [1], [2] y [3]. La [número] cambió nuestro modelo: [agregamos o cambiamos tal estado, atributo o rol].» Pregunta publicada: Por la restricción [número], ¿qué cambió en su modelo y por qué?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Frase fija (dentro de los 45 s): «Nuestro modelo tiene [número] entidades: [nómbrelas]. Un [A] tiene muchos [B]. El diagrama completo y los structs están en el enlace.» Pregunta publicada: ¿Por qué [X] es una entidad y no un atributo de [Y]? · Si tienen menos de seis entidades, borren la caja completa y suban las demás; el mínimo son 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Frase fija (dentro de los 45 s): «[Entidad] empieza en [estado inicial], pasa a [estado] cuando [hecho del negocio] y termina en [estado]. No se permite pasar de [x] a [y], porque [razón].» Pregunta publicada: ¿Qué pasaría en su negocio si alguien hiciera la transición prohibida? ¿Dónde se valida en el código?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Frase fija (dentro de los 45 s): «Tenemos [número] endpoints para [número] pantallas. El rol [X] entra por [pantalla] y consume [endpoint]. Esta es la respuesta real de [endpoint], con código [200].» Pregunta publicada: La pantalla [nombre] necesita mostrar [dato]: ¿qué endpoint se lo da y qué devuelve exactamente?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475488" cy="475488"/>
          </a:xfrm>
          <a:prstGeom prst="ellipse">
            <a:avLst/>
          </a:prstGeom>
          <a:solidFill>
            <a:srgbClr val="1A3D6D"/>
          </a:solidFill>
          <a:ln w="12700">
            <a:solidFill>
              <a:srgbClr val="1A3D6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2926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987552" y="237744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negocio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987552" y="658368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Ficha, secciones 1 y 2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0" y="274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Pareja [número] · [Apellido] · [Apellido]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72200" y="1097280"/>
            <a:ext cx="2606040" cy="3337560"/>
          </a:xfrm>
          <a:prstGeom prst="rect">
            <a:avLst/>
          </a:prstGeom>
          <a:solidFill>
            <a:srgbClr val="FFF4DC"/>
          </a:solidFill>
          <a:ln w="12700">
            <a:solidFill>
              <a:srgbClr val="E8C77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55080" y="12161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Cumplimiento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355080" y="1572768"/>
            <a:ext cx="2286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Enlace al caso de Starter Story</a:t>
            </a:r>
            <a:endParaRPr lang="en-US" sz="11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Qué vende, a quién y cómo cobra</a:t>
            </a:r>
            <a:endParaRPr lang="en-US" sz="11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Cifra que declara el fundador</a:t>
            </a:r>
            <a:endParaRPr lang="en-US" sz="11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Caso de contraste con enlace</a:t>
            </a:r>
            <a:endParaRPr lang="en-US" sz="11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Hipótesis de fondo: modelo, costos o mercado</a:t>
            </a:r>
            <a:endParaRPr lang="en-US" sz="11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Enlace a las secciones 1 y 2 de la ficha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65760" y="4572000"/>
            <a:ext cx="8412480" cy="0"/>
          </a:xfrm>
          <a:prstGeom prst="line">
            <a:avLst/>
          </a:prstGeom>
          <a:noFill/>
          <a:ln w="9525">
            <a:solidFill>
              <a:srgbClr val="BFC7D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5760" y="464515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Ficha, secciones 1 y 2:  </a:t>
            </a:r>
            <a:r>
              <a:rPr lang="en-US" sz="10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github.com/uleam-web-2026-2/[repositorio]/blob/main/docs/hito1_ficha_del_negocio.md#1-negocio-de-referencia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365760" y="109728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Notix</a:t>
            </a:r>
            <a:r>
              <a:rPr lang="en-US" sz="1100" b="1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s-ES" sz="1100" b="1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web de notas visuales organizadas en tableros Kanban, dirigida a estudiantes, trabajadores y pequeños equipos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65760" y="1572768"/>
            <a:ext cx="5577840" cy="1371600"/>
          </a:xfrm>
          <a:prstGeom prst="rect">
            <a:avLst/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30352" y="1682496"/>
            <a:ext cx="5248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Negocio de referencia (Starter Story)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30352" y="2011680"/>
            <a:ext cx="524865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[Qué vende y a quién]  ·  Cobra: [cómo cobra]</a:t>
            </a:r>
            <a:endParaRPr lang="en-US" sz="12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 el fundador: [cifra y periodo]</a:t>
            </a:r>
            <a:endParaRPr lang="en-US" sz="12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[enlace al video o artículo]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365760" y="3063240"/>
            <a:ext cx="5577840" cy="1371600"/>
          </a:xfrm>
          <a:prstGeom prst="rect">
            <a:avLst/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30352" y="3172968"/>
            <a:ext cx="5248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de contraste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3502152"/>
            <a:ext cx="524865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[Negocio comparable que fracasó o se estancó]  ·  Fuente: [enlace]</a:t>
            </a:r>
            <a:endParaRPr lang="en-US" sz="12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Hipótesis: [la diferencia de fondo que explica el resultado]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475488" cy="475488"/>
          </a:xfrm>
          <a:prstGeom prst="ellipse">
            <a:avLst/>
          </a:prstGeom>
          <a:solidFill>
            <a:srgbClr val="1A3D6D"/>
          </a:solidFill>
          <a:ln w="12700">
            <a:solidFill>
              <a:srgbClr val="1A3D6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2926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987552" y="237744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Adaptación al Ecuador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987552" y="658368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Ficha, sección 3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0" y="274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Pareja [número] · [Apellido] · [Apellido]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72200" y="1097280"/>
            <a:ext cx="2606040" cy="3337560"/>
          </a:xfrm>
          <a:prstGeom prst="rect">
            <a:avLst/>
          </a:prstGeom>
          <a:solidFill>
            <a:srgbClr val="FFF4DC"/>
          </a:solidFill>
          <a:ln w="12700">
            <a:solidFill>
              <a:srgbClr val="E8C77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55080" y="12161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Cumplimiento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355080" y="1572768"/>
            <a:ext cx="2286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Tres restricciones locales concretas</a:t>
            </a:r>
            <a:endParaRPr lang="en-US" sz="11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Cada una con su efecto en el negocio</a:t>
            </a:r>
            <a:endParaRPr lang="en-US" sz="1150" dirty="0"/>
          </a:p>
          <a:p>
            <a:pPr marL="0" indent="0">
              <a:spcAft>
                <a:spcPts val="500"/>
              </a:spcAft>
              <a:buNone/>
            </a:pPr>
            <a:r>
              <a:rPr lang="es-419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r>
              <a:rPr lang="en-US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Una que cambió el modelo, y qué cambió</a:t>
            </a:r>
            <a:endParaRPr lang="en-US" sz="1150" dirty="0"/>
          </a:p>
          <a:p>
            <a:pPr marL="0" indent="0">
              <a:spcAft>
                <a:spcPts val="500"/>
              </a:spcAft>
              <a:buNone/>
            </a:pPr>
            <a:r>
              <a:rPr lang="es-419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r>
              <a:rPr lang="en-US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Enlace a la sección 3 de la ficha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65760" y="4572000"/>
            <a:ext cx="8412480" cy="0"/>
          </a:xfrm>
          <a:prstGeom prst="line">
            <a:avLst/>
          </a:prstGeom>
          <a:noFill/>
          <a:ln w="9525">
            <a:solidFill>
              <a:srgbClr val="BFC7D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5760" y="464515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Ficha, sección 3: </a:t>
            </a: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https://github.com/uleam-web-2026-2/Notix-Proyect/blob/main/docs/hito1_ficha_del_negocio.md#3-adaptaci%C3%B3n-al-ecuador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10972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Restricción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3520440" y="10972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Efecto en el negocio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65760" y="1490472"/>
            <a:ext cx="365760" cy="365760"/>
          </a:xfrm>
          <a:prstGeom prst="ellipse">
            <a:avLst/>
          </a:prstGeom>
          <a:solidFill>
            <a:srgbClr val="1A3D6D"/>
          </a:solidFill>
          <a:ln w="12700">
            <a:solidFill>
              <a:srgbClr val="1A3D6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65760" y="14904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868680" y="1417320"/>
            <a:ext cx="5074920" cy="530352"/>
          </a:xfrm>
          <a:prstGeom prst="rect">
            <a:avLst/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246120" y="1490472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3566160" y="149047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[Qué provoca en su negocio]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365760" y="2148840"/>
            <a:ext cx="365760" cy="365760"/>
          </a:xfrm>
          <a:prstGeom prst="ellipse">
            <a:avLst/>
          </a:prstGeom>
          <a:solidFill>
            <a:srgbClr val="1A3D6D"/>
          </a:solidFill>
          <a:ln w="12700">
            <a:solidFill>
              <a:srgbClr val="1A3D6D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6576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868680" y="2075688"/>
            <a:ext cx="5074920" cy="530352"/>
          </a:xfrm>
          <a:prstGeom prst="rect">
            <a:avLst/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05840" y="21488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[Qué pasa y dónde]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3246120" y="2148840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3566160" y="21488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[Qué provoca en su negocio]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365760" y="2807208"/>
            <a:ext cx="365760" cy="365760"/>
          </a:xfrm>
          <a:prstGeom prst="ellipse">
            <a:avLst/>
          </a:prstGeom>
          <a:solidFill>
            <a:srgbClr val="1A3D6D"/>
          </a:solidFill>
          <a:ln w="12700">
            <a:solidFill>
              <a:srgbClr val="1A3D6D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5760" y="28072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868680" y="2734056"/>
            <a:ext cx="5074920" cy="530352"/>
          </a:xfrm>
          <a:prstGeom prst="rect">
            <a:avLst/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005840" y="280720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[Qué pasa y dónde]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3246120" y="2807208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3566160" y="280720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[Qué provoca en su negocio]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365760" y="3474720"/>
            <a:ext cx="5577840" cy="960120"/>
          </a:xfrm>
          <a:prstGeom prst="rect">
            <a:avLst/>
          </a:prstGeom>
          <a:solidFill>
            <a:srgbClr val="FFFFFF"/>
          </a:solidFill>
          <a:ln w="19050">
            <a:solidFill>
              <a:srgbClr val="1A3D6D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48640" y="3593592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Cambio </a:t>
            </a:r>
            <a:r>
              <a:rPr lang="en-US" sz="1250" b="1" dirty="0" err="1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b="1" dirty="0" err="1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</a:t>
            </a:r>
            <a:r>
              <a:rPr lang="en-US" sz="12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b="1" dirty="0" err="1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r>
              <a:rPr lang="en-US" sz="12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por la </a:t>
            </a:r>
            <a:r>
              <a:rPr lang="en-US" sz="1250" b="1" dirty="0" err="1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restricción</a:t>
            </a:r>
            <a:r>
              <a:rPr lang="en-US" sz="12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 y 2</a:t>
            </a:r>
          </a:p>
          <a:p>
            <a:pPr marL="0" indent="0">
              <a:buNone/>
            </a:pPr>
            <a:endParaRPr lang="en-US" sz="1250" dirty="0"/>
          </a:p>
        </p:txBody>
      </p:sp>
      <p:sp>
        <p:nvSpPr>
          <p:cNvPr id="36" name="Rectangle 3">
            <a:extLst>
              <a:ext uri="{FF2B5EF4-FFF2-40B4-BE49-F238E27FC236}">
                <a16:creationId xmlns:a16="http://schemas.microsoft.com/office/drawing/2014/main" id="{3353F943-61F1-4489-B605-DC31C0D6F834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502919" y="3815577"/>
            <a:ext cx="5394959" cy="6001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419" altLang="es-419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 agregó la entidad </a:t>
            </a:r>
            <a:r>
              <a:rPr kumimoji="0" lang="es-419" altLang="es-419" sz="11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TableroCompartido</a:t>
            </a:r>
            <a:r>
              <a:rPr kumimoji="0" lang="es-419" altLang="es-419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con atributos para el tipo de permiso (</a:t>
            </a:r>
            <a:r>
              <a:rPr kumimoji="0" lang="es-419" altLang="es-419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RolEnTablero</a:t>
            </a:r>
            <a:r>
              <a:rPr kumimoji="0" lang="es-419" altLang="es-419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y el estado de la vinculación (</a:t>
            </a:r>
            <a:r>
              <a:rPr kumimoji="0" lang="es-419" altLang="es-419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EstadoInvitacion</a:t>
            </a:r>
            <a:r>
              <a:rPr kumimoji="0" lang="es-419" altLang="es-419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), permitiendo al </a:t>
            </a:r>
            <a:r>
              <a:rPr kumimoji="0" lang="es-419" altLang="es-419" sz="11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backend</a:t>
            </a:r>
            <a:r>
              <a:rPr kumimoji="0" lang="es-419" altLang="es-419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validar el acceso explícito de cada usuario antes de mostrar o modificar notas</a:t>
            </a:r>
            <a:r>
              <a:rPr kumimoji="0" lang="es-419" altLang="es-419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475488" cy="475488"/>
          </a:xfrm>
          <a:prstGeom prst="ellipse">
            <a:avLst/>
          </a:prstGeom>
          <a:solidFill>
            <a:srgbClr val="1A3D6D"/>
          </a:solidFill>
          <a:ln w="12700">
            <a:solidFill>
              <a:srgbClr val="1A3D6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2926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987552" y="237744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datos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987552" y="658368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Ficha, sección 4 · los structs van en la ficha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0" y="274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Pareja [número] · [Apellido] · [Apellido]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72200" y="1097280"/>
            <a:ext cx="2606040" cy="3337560"/>
          </a:xfrm>
          <a:prstGeom prst="rect">
            <a:avLst/>
          </a:prstGeom>
          <a:solidFill>
            <a:srgbClr val="FFF4DC"/>
          </a:solidFill>
          <a:ln w="12700">
            <a:solidFill>
              <a:srgbClr val="E8C77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55080" y="12161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Cumplimiento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355080" y="1572768"/>
            <a:ext cx="2286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s-419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r>
              <a:rPr lang="en-US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Hasta seis entidades, con sus atributos clave</a:t>
            </a:r>
            <a:endParaRPr lang="en-US" sz="1150" dirty="0"/>
          </a:p>
          <a:p>
            <a:pPr marL="0" indent="0">
              <a:spcAft>
                <a:spcPts val="500"/>
              </a:spcAft>
              <a:buNone/>
            </a:pPr>
            <a:r>
              <a:rPr lang="es-419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r>
              <a:rPr lang="en-US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Relaciones con su cardinalidad</a:t>
            </a:r>
            <a:endParaRPr lang="en-US" sz="1150" dirty="0"/>
          </a:p>
          <a:p>
            <a:pPr marL="0" indent="0">
              <a:spcAft>
                <a:spcPts val="500"/>
              </a:spcAft>
              <a:buNone/>
            </a:pPr>
            <a:r>
              <a:rPr lang="es-419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r>
              <a:rPr lang="en-US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Enlace al diagrama completo del modelo</a:t>
            </a:r>
            <a:endParaRPr lang="en-US" sz="1150" dirty="0"/>
          </a:p>
          <a:p>
            <a:pPr marL="0" indent="0">
              <a:spcAft>
                <a:spcPts val="500"/>
              </a:spcAft>
              <a:buNone/>
            </a:pPr>
            <a:r>
              <a:rPr lang="es-419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r>
              <a:rPr lang="en-US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Enlace a la sección 4 de la ficha, donde están los structs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65760" y="4572000"/>
            <a:ext cx="8412480" cy="0"/>
          </a:xfrm>
          <a:prstGeom prst="line">
            <a:avLst/>
          </a:prstGeom>
          <a:noFill/>
          <a:ln w="9525">
            <a:solidFill>
              <a:srgbClr val="BFC7D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5760" y="464515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Ficha, sección 4:  </a:t>
            </a:r>
            <a:r>
              <a:rPr lang="en-US" sz="85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https://github.com/uleam-web-2026-2/Notix-Proyect/blob/main/docs/hito1_ficha_del_negocio.md#4-modelo-de-datos  ·   </a:t>
            </a:r>
            <a:r>
              <a:rPr lang="en-US" sz="850" dirty="0" err="1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</a:t>
            </a:r>
            <a:r>
              <a:rPr lang="en-US" sz="85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https://github.com/uleam-web-2026-2/Notix-Proyect/blob/main/docs/hito1_ficha_del_negocio.md#diagrama-del-modelo-completo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365760" y="107899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· [número] entidades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365760" y="1371600"/>
            <a:ext cx="17373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3D6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65760" y="1371600"/>
            <a:ext cx="1737360" cy="256032"/>
          </a:xfrm>
          <a:prstGeom prst="rect">
            <a:avLst/>
          </a:prstGeom>
          <a:solidFill>
            <a:srgbClr val="1A3D6D"/>
          </a:solidFill>
          <a:ln w="12700">
            <a:solidFill>
              <a:srgbClr val="1A3D6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8912" y="1371600"/>
            <a:ext cx="1591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chemeClr val="bg1"/>
                </a:solidFill>
              </a:rPr>
              <a:t>Usuario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17" name="Text 14"/>
          <p:cNvSpPr txBox="1"/>
          <p:nvPr/>
        </p:nvSpPr>
        <p:spPr>
          <a:xfrm>
            <a:off x="438912" y="1682496"/>
            <a:ext cx="15910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id: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</a:t>
            </a: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entero</a:t>
            </a: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900" dirty="0"/>
          </a:p>
          <a:p>
            <a:pPr marL="0" indent="0">
              <a:buNone/>
            </a:pP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</a:t>
            </a: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clave: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2240280" y="1371600"/>
            <a:ext cx="17373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3D6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240280" y="1371600"/>
            <a:ext cx="1737360" cy="256032"/>
          </a:xfrm>
          <a:prstGeom prst="rect">
            <a:avLst/>
          </a:prstGeom>
          <a:solidFill>
            <a:srgbClr val="1A3D6D"/>
          </a:solidFill>
          <a:ln w="12700">
            <a:solidFill>
              <a:srgbClr val="1A3D6D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313432" y="1371600"/>
            <a:ext cx="1591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Tablero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2313432" y="1672971"/>
            <a:ext cx="15910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titulo</a:t>
            </a: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</a:t>
            </a: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descripcion</a:t>
            </a: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</a:t>
            </a:r>
            <a:endParaRPr lang="en-US" sz="900" dirty="0">
              <a:solidFill>
                <a:srgbClr val="1D2433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creado</a:t>
            </a: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</a:t>
            </a: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hora</a:t>
            </a:r>
          </a:p>
          <a:p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114800" y="1371600"/>
            <a:ext cx="17373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3D6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114800" y="1371600"/>
            <a:ext cx="1737360" cy="256032"/>
          </a:xfrm>
          <a:prstGeom prst="rect">
            <a:avLst/>
          </a:prstGeom>
          <a:solidFill>
            <a:srgbClr val="1A3D6D"/>
          </a:solidFill>
          <a:ln w="12700">
            <a:solidFill>
              <a:srgbClr val="1A3D6D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187952" y="1371600"/>
            <a:ext cx="1591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4187952" y="1682496"/>
            <a:ext cx="15910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</a:t>
            </a: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</a:t>
            </a:r>
            <a:endParaRPr lang="en-US" sz="900" dirty="0">
              <a:solidFill>
                <a:srgbClr val="1D2433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</a:t>
            </a: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</a:t>
            </a: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entero</a:t>
            </a:r>
            <a:endParaRPr lang="en-US" sz="900" dirty="0">
              <a:solidFill>
                <a:srgbClr val="1D2433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id: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</a:t>
            </a: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entero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365760" y="2423159"/>
            <a:ext cx="1737360" cy="1143001"/>
          </a:xfrm>
          <a:prstGeom prst="rect">
            <a:avLst/>
          </a:prstGeom>
          <a:solidFill>
            <a:srgbClr val="FFFFFF"/>
          </a:solidFill>
          <a:ln w="12700">
            <a:solidFill>
              <a:srgbClr val="1A3D6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65760" y="2423160"/>
            <a:ext cx="1737360" cy="256032"/>
          </a:xfrm>
          <a:prstGeom prst="rect">
            <a:avLst/>
          </a:prstGeom>
          <a:solidFill>
            <a:srgbClr val="1A3D6D"/>
          </a:solidFill>
          <a:ln w="12700">
            <a:solidFill>
              <a:srgbClr val="1A3D6D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38912" y="2423160"/>
            <a:ext cx="1591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38912" y="2734056"/>
            <a:ext cx="15910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titulo</a:t>
            </a: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</a:t>
            </a:r>
            <a:endParaRPr lang="en-US" sz="900" dirty="0">
              <a:solidFill>
                <a:srgbClr val="1D2433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</a:t>
            </a: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</a:t>
            </a: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entero</a:t>
            </a:r>
            <a:endParaRPr lang="en-US" sz="900" dirty="0">
              <a:solidFill>
                <a:srgbClr val="1D2433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s-E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 de: pendiente, </a:t>
            </a:r>
            <a:r>
              <a:rPr lang="es-E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en_proceso</a:t>
            </a:r>
            <a:r>
              <a:rPr lang="es-E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completado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2240280" y="2423160"/>
            <a:ext cx="17373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3D6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240280" y="2423160"/>
            <a:ext cx="1737360" cy="256032"/>
          </a:xfrm>
          <a:prstGeom prst="rect">
            <a:avLst/>
          </a:prstGeom>
          <a:solidFill>
            <a:srgbClr val="1A3D6D"/>
          </a:solidFill>
          <a:ln w="12700">
            <a:solidFill>
              <a:srgbClr val="1A3D6D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313432" y="2423160"/>
            <a:ext cx="1591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chemeClr val="bg1"/>
                </a:solidFill>
              </a:rPr>
              <a:t>TableroCompartido</a:t>
            </a:r>
            <a:endParaRPr lang="en-US" sz="1100" b="1" dirty="0">
              <a:solidFill>
                <a:schemeClr val="bg1"/>
              </a:solidFill>
            </a:endParaRPr>
          </a:p>
        </p:txBody>
      </p:sp>
      <p:sp>
        <p:nvSpPr>
          <p:cNvPr id="33" name="Text 30"/>
          <p:cNvSpPr txBox="1"/>
          <p:nvPr/>
        </p:nvSpPr>
        <p:spPr>
          <a:xfrm>
            <a:off x="2313432" y="2734056"/>
            <a:ext cx="15910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estado_invitacion</a:t>
            </a: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uno de:       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</a:t>
            </a: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</a:t>
            </a: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revocado</a:t>
            </a:r>
            <a:endParaRPr lang="en-US" sz="900" dirty="0">
              <a:solidFill>
                <a:srgbClr val="1D2433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rol_en_tablero</a:t>
            </a: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uno de: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propietario</a:t>
            </a: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colaborador</a:t>
            </a:r>
            <a:endParaRPr lang="en-US" sz="900" dirty="0">
              <a:solidFill>
                <a:srgbClr val="1D2433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agregado</a:t>
            </a: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</a:t>
            </a: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hora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4114800" y="2423160"/>
            <a:ext cx="17373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3D6D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114800" y="2423160"/>
            <a:ext cx="1737360" cy="256032"/>
          </a:xfrm>
          <a:prstGeom prst="rect">
            <a:avLst/>
          </a:prstGeom>
          <a:solidFill>
            <a:srgbClr val="1A3D6D"/>
          </a:solidFill>
          <a:ln w="12700">
            <a:solidFill>
              <a:srgbClr val="1A3D6D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187952" y="2423160"/>
            <a:ext cx="1591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4187952" y="2734056"/>
            <a:ext cx="159105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</a:t>
            </a: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</a:t>
            </a:r>
            <a:endParaRPr lang="en-US" sz="900" dirty="0">
              <a:solidFill>
                <a:srgbClr val="1D2433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creado</a:t>
            </a: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</a:t>
            </a: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hora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Id: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</a:t>
            </a:r>
            <a:r>
              <a:rPr lang="en-US" sz="9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entero</a:t>
            </a:r>
            <a:endParaRPr lang="en-US" sz="900" dirty="0"/>
          </a:p>
        </p:txBody>
      </p:sp>
      <p:sp>
        <p:nvSpPr>
          <p:cNvPr id="38" name="Text 35"/>
          <p:cNvSpPr txBox="1"/>
          <p:nvPr/>
        </p:nvSpPr>
        <p:spPr>
          <a:xfrm>
            <a:off x="365760" y="3703320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 err="1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Relaciones</a:t>
            </a:r>
            <a:r>
              <a:rPr lang="en-US" sz="10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s-ES" sz="10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 1—N Tablero · Tablero 1—N Columna · Columna 1—N Tarea · Usuario 1—N Tarea · Tablero 1—N </a:t>
            </a:r>
            <a:r>
              <a:rPr lang="es-ES" sz="105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TableroCompartido</a:t>
            </a:r>
            <a:r>
              <a:rPr lang="es-ES" sz="10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Usuario 1—N </a:t>
            </a:r>
            <a:r>
              <a:rPr lang="es-ES" sz="1050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TableroCompartido</a:t>
            </a:r>
            <a:r>
              <a:rPr lang="es-ES" sz="10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Tarea 1—N Comentario · Usuario 1—N Comentario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475488" cy="475488"/>
          </a:xfrm>
          <a:prstGeom prst="ellipse">
            <a:avLst/>
          </a:prstGeom>
          <a:solidFill>
            <a:srgbClr val="1A3D6D"/>
          </a:solidFill>
          <a:ln w="12700">
            <a:solidFill>
              <a:srgbClr val="1A3D6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2926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987552" y="237744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 de estados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987552" y="658368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Ficha, sección 5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0" y="274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Pareja [número] · [Apellido] · [Apellido]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72200" y="1097280"/>
            <a:ext cx="2606040" cy="3337560"/>
          </a:xfrm>
          <a:prstGeom prst="rect">
            <a:avLst/>
          </a:prstGeom>
          <a:solidFill>
            <a:srgbClr val="FFF4DC"/>
          </a:solidFill>
          <a:ln w="12700">
            <a:solidFill>
              <a:srgbClr val="E8C77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55080" y="12161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Cumplimiento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355080" y="1572768"/>
            <a:ext cx="2286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s-419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r>
              <a:rPr lang="en-US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Tres o más estados, con el inicial marcado</a:t>
            </a:r>
            <a:endParaRPr lang="en-US" sz="11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Tabla de transiciones con quién y con qué condición</a:t>
            </a:r>
            <a:endParaRPr lang="en-US" sz="1150" dirty="0"/>
          </a:p>
          <a:p>
            <a:pPr marL="0" indent="0">
              <a:spcAft>
                <a:spcPts val="500"/>
              </a:spcAft>
              <a:buNone/>
            </a:pPr>
            <a:r>
              <a:rPr lang="es-419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r>
              <a:rPr lang="en-US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Una transición prohibida y su razón</a:t>
            </a:r>
            <a:endParaRPr lang="en-US" sz="1150" dirty="0"/>
          </a:p>
          <a:p>
            <a:pPr marL="0" indent="0">
              <a:spcAft>
                <a:spcPts val="500"/>
              </a:spcAft>
              <a:buNone/>
            </a:pPr>
            <a:r>
              <a:rPr lang="es-419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r>
              <a:rPr lang="en-US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Enlace al diagrama de estados</a:t>
            </a:r>
            <a:endParaRPr lang="en-US" sz="1150" dirty="0"/>
          </a:p>
          <a:p>
            <a:pPr marL="0" indent="0">
              <a:spcAft>
                <a:spcPts val="500"/>
              </a:spcAft>
              <a:buNone/>
            </a:pPr>
            <a:r>
              <a:rPr lang="es-419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r>
              <a:rPr lang="en-US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Enlace a la sección 5 de la ficha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65760" y="4572000"/>
            <a:ext cx="8412480" cy="0"/>
          </a:xfrm>
          <a:prstGeom prst="line">
            <a:avLst/>
          </a:prstGeom>
          <a:noFill/>
          <a:ln w="9525">
            <a:solidFill>
              <a:srgbClr val="BFC7D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5760" y="464515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Ficha, sección 5:  </a:t>
            </a:r>
            <a:r>
              <a:rPr lang="en-US" sz="85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https://github.com/uleam-web-2026-2/Notix-Proyect/blob/main/docs/hito1_ficha_del_negocio.md#5-m%C3%A1quina-de-estados   ·   Diagrama: https://github.com/uleam-web-2026-2/Notix-Proyect/blob/main/docs/hito1_ficha_del_negocio.md#diagrama-de-estados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365760" y="107899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 de [entidad]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1463040"/>
            <a:ext cx="1691640" cy="502920"/>
          </a:xfrm>
          <a:prstGeom prst="roundRect">
            <a:avLst>
              <a:gd name="adj" fmla="val 21818"/>
            </a:avLst>
          </a:prstGeom>
          <a:solidFill>
            <a:srgbClr val="1A3D6D"/>
          </a:solidFill>
          <a:ln w="12700">
            <a:solidFill>
              <a:srgbClr val="1A3D6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7200" y="146304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1303020" y="1965960"/>
            <a:ext cx="0" cy="457200"/>
          </a:xfrm>
          <a:prstGeom prst="line">
            <a:avLst/>
          </a:prstGeom>
          <a:noFill/>
          <a:ln w="19050">
            <a:solidFill>
              <a:srgbClr val="1A3D6D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1394459" y="2057400"/>
            <a:ext cx="12725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iniciar</a:t>
            </a:r>
            <a:r>
              <a:rPr lang="en-US" sz="10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</a:t>
            </a:r>
            <a:r>
              <a:rPr lang="en-US" sz="10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1000" dirty="0" err="1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propietario</a:t>
            </a:r>
            <a:r>
              <a:rPr lang="en-US" sz="10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</a:t>
            </a:r>
            <a:r>
              <a:rPr lang="en-US" sz="1000" dirty="0" err="1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colaborador</a:t>
            </a:r>
            <a:r>
              <a:rPr lang="en-US" sz="10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2423160"/>
            <a:ext cx="1691640" cy="502920"/>
          </a:xfrm>
          <a:prstGeom prst="roundRect">
            <a:avLst>
              <a:gd name="adj" fmla="val 21818"/>
            </a:avLst>
          </a:prstGeom>
          <a:solidFill>
            <a:srgbClr val="E8EEF6"/>
          </a:solidFill>
          <a:ln w="12700">
            <a:solidFill>
              <a:srgbClr val="1A3D6D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57200" y="242316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en_proceso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1303020" y="2926080"/>
            <a:ext cx="0" cy="457200"/>
          </a:xfrm>
          <a:prstGeom prst="line">
            <a:avLst/>
          </a:prstGeom>
          <a:noFill/>
          <a:ln w="19050">
            <a:solidFill>
              <a:srgbClr val="1A3D6D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1394460" y="3017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Propietario</a:t>
            </a:r>
            <a:r>
              <a:rPr lang="en-US" sz="10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</a:t>
            </a:r>
            <a:r>
              <a:rPr lang="en-US" sz="1000" dirty="0" err="1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colaborador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57200" y="3383280"/>
            <a:ext cx="1691640" cy="502920"/>
          </a:xfrm>
          <a:prstGeom prst="roundRect">
            <a:avLst>
              <a:gd name="adj" fmla="val 21818"/>
            </a:avLst>
          </a:prstGeom>
          <a:solidFill>
            <a:srgbClr val="E8EEF6"/>
          </a:solidFill>
          <a:ln w="12700">
            <a:solidFill>
              <a:srgbClr val="1A3D6D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57200" y="33832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 err="1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completado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457200" y="126187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inicial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2148840" y="3634740"/>
            <a:ext cx="201168" cy="0"/>
          </a:xfrm>
          <a:prstGeom prst="line">
            <a:avLst/>
          </a:prstGeom>
          <a:noFill/>
          <a:ln w="19050">
            <a:solidFill>
              <a:srgbClr val="C5221F"/>
            </a:solidFill>
            <a:prstDash val="dash"/>
          </a:ln>
        </p:spPr>
      </p:sp>
      <p:sp>
        <p:nvSpPr>
          <p:cNvPr id="26" name="Shape 23"/>
          <p:cNvSpPr/>
          <p:nvPr/>
        </p:nvSpPr>
        <p:spPr>
          <a:xfrm>
            <a:off x="2350008" y="1714500"/>
            <a:ext cx="0" cy="1920240"/>
          </a:xfrm>
          <a:prstGeom prst="line">
            <a:avLst/>
          </a:prstGeom>
          <a:noFill/>
          <a:ln w="19050">
            <a:solidFill>
              <a:srgbClr val="C5221F"/>
            </a:solidFill>
            <a:prstDash val="dash"/>
          </a:ln>
        </p:spPr>
      </p:sp>
      <p:sp>
        <p:nvSpPr>
          <p:cNvPr id="27" name="Shape 24"/>
          <p:cNvSpPr/>
          <p:nvPr/>
        </p:nvSpPr>
        <p:spPr>
          <a:xfrm flipH="1">
            <a:off x="2148840" y="1714500"/>
            <a:ext cx="201168" cy="0"/>
          </a:xfrm>
          <a:prstGeom prst="line">
            <a:avLst/>
          </a:prstGeom>
          <a:noFill/>
          <a:ln w="19050">
            <a:solidFill>
              <a:srgbClr val="C5221F"/>
            </a:solidFill>
            <a:prstDash val="dash"/>
            <a:tailEnd type="triangle"/>
          </a:ln>
        </p:spPr>
      </p:sp>
      <p:sp>
        <p:nvSpPr>
          <p:cNvPr id="28" name="Text 25"/>
          <p:cNvSpPr txBox="1"/>
          <p:nvPr/>
        </p:nvSpPr>
        <p:spPr>
          <a:xfrm>
            <a:off x="2240280" y="2537460"/>
            <a:ext cx="21945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5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017520" y="1371600"/>
          <a:ext cx="2926080" cy="877824"/>
        </p:xfrm>
        <a:graphic>
          <a:graphicData uri="http://schemas.openxmlformats.org/drawingml/2006/table">
            <a:tbl>
              <a:tblPr/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07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6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6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Quién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6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Condición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6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[estado]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[estado]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[rol]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[cuándo se permite]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[estado]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[estado]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[rol]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[cuándo se permite]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0" name="Shape 26"/>
          <p:cNvSpPr/>
          <p:nvPr/>
        </p:nvSpPr>
        <p:spPr>
          <a:xfrm>
            <a:off x="3017520" y="2834640"/>
            <a:ext cx="2926080" cy="1463040"/>
          </a:xfrm>
          <a:prstGeom prst="rect">
            <a:avLst/>
          </a:prstGeom>
          <a:solidFill>
            <a:srgbClr val="FFFFFF"/>
          </a:solidFill>
          <a:ln w="15875">
            <a:solidFill>
              <a:srgbClr val="C5221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3154680" y="2971800"/>
            <a:ext cx="2651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C52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Transición prohibida</a:t>
            </a:r>
            <a:endParaRPr lang="en-US" sz="1050" dirty="0"/>
          </a:p>
          <a:p>
            <a:pPr marL="0" indent="0">
              <a:buNone/>
            </a:pPr>
            <a:r>
              <a:rPr lang="es-ES" sz="10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pendiente no se puede pasar directamente a completado.</a:t>
            </a:r>
          </a:p>
          <a:p>
            <a:pPr marL="0" indent="0">
              <a:buNone/>
            </a:pPr>
            <a:r>
              <a:rPr lang="es-ES" sz="1050" dirty="0"/>
              <a:t>En la metodología Kanban, una tarea no puede considerarse finalizada sin haber pasado obligatoriamente por la fase de ejecución (</a:t>
            </a:r>
            <a:r>
              <a:rPr lang="es-ES" sz="1050" dirty="0" err="1"/>
              <a:t>en_proceso</a:t>
            </a:r>
            <a:r>
              <a:rPr lang="es-ES" sz="1050" dirty="0"/>
              <a:t>).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475488" cy="475488"/>
          </a:xfrm>
          <a:prstGeom prst="ellipse">
            <a:avLst/>
          </a:prstGeom>
          <a:solidFill>
            <a:srgbClr val="1A3D6D"/>
          </a:solidFill>
          <a:ln w="12700">
            <a:solidFill>
              <a:srgbClr val="1A3D6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65760" y="2926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987552" y="237744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y pantallas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987552" y="658368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Ficha, secciones 6 y 7 · lo demás va en el addendum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0" y="274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Pareja [número] · [Apellido] · [Apellido]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72200" y="1097280"/>
            <a:ext cx="2606040" cy="3337560"/>
          </a:xfrm>
          <a:prstGeom prst="rect">
            <a:avLst/>
          </a:prstGeom>
          <a:solidFill>
            <a:srgbClr val="FFF4DC"/>
          </a:solidFill>
          <a:ln w="12700">
            <a:solidFill>
              <a:srgbClr val="E8C77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55080" y="12161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Cumplimiento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355080" y="1572768"/>
            <a:ext cx="2286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Cuatro a seis endpoints, con verbo y ruta</a:t>
            </a:r>
            <a:endParaRPr lang="en-US" sz="11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El rol que llama a cada uno</a:t>
            </a:r>
            <a:endParaRPr lang="en-US" sz="11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La pantalla que lo consume</a:t>
            </a:r>
            <a:endParaRPr lang="en-US" sz="11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Código cuando sale bien y cuando falla</a:t>
            </a:r>
            <a:endParaRPr lang="en-US" sz="11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Captura de una respuesta real con su código</a:t>
            </a:r>
            <a:endParaRPr lang="en-US" sz="11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5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Enlace a la sección 7 de la ficha y al addendum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65760" y="4572000"/>
            <a:ext cx="8412480" cy="0"/>
          </a:xfrm>
          <a:prstGeom prst="line">
            <a:avLst/>
          </a:prstGeom>
          <a:noFill/>
          <a:ln w="9525">
            <a:solidFill>
              <a:srgbClr val="BFC7D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5760" y="464515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Ficha, secciones 6 y 7:  </a:t>
            </a:r>
            <a:r>
              <a:rPr lang="en-US" sz="85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github.com/uleam-web-2026-2/[repositorio]/blob/main/docs/hito1_ficha_del_negocio.md#7-mapa-de-endpoints-por-rol   ·   Addendum: github.com/uleam-web-2026-2/[repositorio]/blob/main/docs/hito1_addendum.md</a:t>
            </a:r>
            <a:endParaRPr lang="en-US" sz="8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5577840" cy="1645920"/>
        </p:xfrm>
        <a:graphic>
          <a:graphicData uri="http://schemas.openxmlformats.org/drawingml/2006/table">
            <a:tbl>
              <a:tblPr/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6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6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Pantalla que lo consume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6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6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D6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[VERBO /ruta]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[rol]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[pantalla]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[2xx]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[4xx]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[VERBO /ruta]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[rol]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[pantalla]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[2xx]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[4xx]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[VERBO /ruta]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[rol]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[pantalla]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[2xx]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[4xx]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[VERBO /ruta]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[rol]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[pantalla]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[2xx]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[4xx]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E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[VERBO /ruta]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[rol]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[pantalla]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[2xx]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1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[4xx]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>
                    <a:lnL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7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365760" y="2880360"/>
            <a:ext cx="3200400" cy="1554480"/>
          </a:xfrm>
          <a:prstGeom prst="rect">
            <a:avLst/>
          </a:prstGeom>
          <a:solidFill>
            <a:srgbClr val="F3F4F6"/>
          </a:solidFill>
          <a:ln w="9525">
            <a:solidFill>
              <a:srgbClr val="BFC7D3"/>
            </a:solidFill>
            <a:prstDash val="dash"/>
          </a:ln>
        </p:spPr>
      </p:sp>
      <p:sp>
        <p:nvSpPr>
          <p:cNvPr id="15" name="Text 11"/>
          <p:cNvSpPr txBox="1"/>
          <p:nvPr/>
        </p:nvSpPr>
        <p:spPr>
          <a:xfrm>
            <a:off x="502920" y="288036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[Captura de una respuesta real: la petición, el código y el cuerpo JSON]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3749040" y="2880360"/>
            <a:ext cx="2194560" cy="1554480"/>
          </a:xfrm>
          <a:prstGeom prst="rect">
            <a:avLst/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3886200" y="2999232"/>
            <a:ext cx="1920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A3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addendum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Structs y estructura de carpetas · pruebas con su captura · variables de entorno · boceto de la pantalla principal · diagrama de secuencia.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1530</Words>
  <Application>Microsoft Office PowerPoint</Application>
  <PresentationFormat>Presentación en pantalla (16:9)</PresentationFormat>
  <Paragraphs>172</Paragraphs>
  <Slides>5</Slides>
  <Notes>5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9" baseType="lpstr">
      <vt:lpstr>Arial</vt:lpstr>
      <vt:lpstr>Arial Unicode MS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Hito 1 Servidor · Plantilla de diapositivas</dc:title>
  <dc:subject>PptxGenJS Presentation</dc:subject>
  <dc:creator>PptxGenJS</dc:creator>
  <cp:lastModifiedBy>Maj Bdbd</cp:lastModifiedBy>
  <cp:revision>6</cp:revision>
  <dcterms:created xsi:type="dcterms:W3CDTF">2026-09-19T00:15:18Z</dcterms:created>
  <dcterms:modified xsi:type="dcterms:W3CDTF">2026-09-30T20:18:04Z</dcterms:modified>
</cp:coreProperties>
</file>
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1932"/>
    <p:restoredTop sz="96197"/>
  </p:normalViewPr>
  <p:slideViewPr>
    <p:cSldViewPr snapToGrid="0" snapToObjects="1">
      <p:cViewPr varScale="1">
        <p:scale>
          <a:sx n="88" d="100"/>
          <a:sy n="88" d="100"/>
        </p:scale>
        <p:origin x="200" y="13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791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fija (dentro de los 45 s): «Nuestro negocio es [nombre]: vende [qué] a [quién] y cobra [cómo]. Se basa en [caso de Starter Story]. Un caso parecido que fracasó fue [nombre], y creemos que fue por [hipótesis].» Pregunta publicada: ¿De qué depende que su negocio gane dinero? Si eso falla, ¿qué pasa?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fija (dentro de los 45 s): «Nuestras restricciones son [1], [2] y [3]. La [número] cambió nuestro modelo: [agregamos o cambiamos tal estado, atributo o rol].» Pregunta publicada: Por la restricción [número], ¿qué cambió en su modelo y por qué?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fija (dentro de los 45 s): «Nuestro modelo tiene [número] entidades: [nómbrelas]. Un [A] tiene muchos [B]. El diagrama completo y los structs están en el enlace.» Pregunta publicada: ¿Por qué [X] es una entidad y no un atributo de [Y]? · Si tienen menos de seis entidades, borren la caja completa y suban las demás; el mínimo son 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fija (dentro de los 45 s): «[Entidad] empieza en [estado inicial], pasa a [estado] cuando [hecho del negocio] y termina en [estado]. No se permite pasar de [x] a [y], porque [razón].» Pregunta publicada: ¿Qué pasaría en su negocio si alguien hiciera la transición prohibida? ¿Dónde se valida en el código?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fija (dentro de los 45 s): «Tenemos [número] endpoints para [número] pantallas. El rol [X] entra por [pantalla] y consume [endpoint]. Esta es la respuesta real de [endpoint], con código [200].» Pregunta publicada: La pantalla [nombre] necesita mostrar [dato]: ¿qué endpoint se lo da y qué devuelve exactamente?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techcrunch.com/2017/01/09/atlassian-acquires-trello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475488" cy="475488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2377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negocio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65836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secciones 1 y 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3307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Pareja [número] · </a:t>
            </a:r>
            <a:r>
              <a:rPr lang="en-US" sz="11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García·García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097280"/>
            <a:ext cx="2606040" cy="3337560"/>
          </a:xfrm>
          <a:prstGeom prst="rect">
            <a:avLst/>
          </a:prstGeom>
          <a:solidFill>
            <a:srgbClr val="FFF4DC"/>
          </a:solidFill>
          <a:ln w="12700">
            <a:solidFill>
              <a:srgbClr val="E8C7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216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572768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Enlace al caso de Starter Story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Qué vende, a quién y cómo cobra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Cifra que declara el fundador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Caso de contraste con enlace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Hipótesis de fondo: modelo, costos o mercado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Enlace a las secciones 1 y 2 de la ficha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4572000"/>
            <a:ext cx="8412480" cy="0"/>
          </a:xfrm>
          <a:prstGeom prst="line">
            <a:avLst/>
          </a:prstGeom>
          <a:noFill/>
          <a:ln w="9525">
            <a:solidFill>
              <a:srgbClr val="BFC7D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46451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secciones 1 y 2: </a:t>
            </a:r>
            <a:r>
              <a:rPr lang="en-US" sz="1000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</a:t>
            </a:r>
            <a:r>
              <a:rPr lang="en-US" sz="1000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</a:t>
            </a:r>
            <a:r>
              <a:rPr lang="en-US" sz="1000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/uleam-web-2026-2/</a:t>
            </a:r>
            <a:r>
              <a:rPr lang="en-US" sz="1000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Notix-Proyect</a:t>
            </a:r>
            <a:r>
              <a:rPr lang="en-US" sz="1000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/blob/main/docs/hito1_ficha_del_negocio.md#1-negocio-de-referencia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10972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Notix</a:t>
            </a:r>
            <a:r>
              <a:rPr lang="en-US" sz="11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de notas visuales organizadas en tableros Kanban, dirigida a estudiantes, trabajadores y pequeños equipos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65760" y="1572768"/>
            <a:ext cx="5577840" cy="1371600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0624" y="1617980"/>
            <a:ext cx="5248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Negocio de </a:t>
            </a:r>
            <a:r>
              <a:rPr lang="en-US" sz="1400" b="1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</a:t>
            </a: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s-EC" sz="1400" b="0" i="0" u="none" strike="noStrike" dirty="0">
                <a:solidFill>
                  <a:srgbClr val="1F2328"/>
                </a:solidFill>
                <a:effectLst/>
                <a:latin typeface="Mona Sans VF"/>
              </a:rPr>
              <a:t>Trello</a:t>
            </a: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20624" y="1828800"/>
            <a:ext cx="535838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s-EC" sz="1250" dirty="0">
                <a:solidFill>
                  <a:srgbClr val="1F2328"/>
                </a:solidFill>
                <a:latin typeface="Mona Sans VF"/>
              </a:rPr>
              <a:t>SaaS de gestión de proyectos y tareas, basado en la metodología Kanban. Sirve a profesionales independientes y estudiantes, hasta departamentos de desarrollo en grandes corporaciones.</a:t>
            </a:r>
            <a:endParaRPr lang="en-US" sz="125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400"/>
              </a:spcAft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Cobra: </a:t>
            </a:r>
            <a:r>
              <a:rPr lang="es-EC" sz="1250" b="0" i="0" u="none" strike="noStrike" dirty="0">
                <a:solidFill>
                  <a:srgbClr val="1F2328"/>
                </a:solidFill>
                <a:effectLst/>
                <a:latin typeface="Mona Sans VF"/>
              </a:rPr>
              <a:t>Utiliza un modelo free-premium.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>
              <a:spcAft>
                <a:spcPts val="400"/>
              </a:spcAft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https://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techcrunch.com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/2017/01/09/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-acquires-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trello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65760" y="3063240"/>
            <a:ext cx="5577840" cy="1371600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20624" y="3031490"/>
            <a:ext cx="5248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contraste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20624" y="3258313"/>
            <a:ext cx="55046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Wunderlist, </a:t>
            </a:r>
            <a:r>
              <a:rPr lang="es-EC" sz="1250" b="0" i="0" u="none" strike="noStrike" dirty="0">
                <a:solidFill>
                  <a:srgbClr val="1F2328"/>
                </a:solidFill>
                <a:effectLst/>
                <a:latin typeface="Mona Sans VF"/>
              </a:rPr>
              <a:t>ofrecía una versión gratuita tan completa que desincentivaba la actualización.</a:t>
            </a:r>
            <a:endParaRPr lang="en-US" sz="125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https://techcrunch.com/2017/01/09/atlassian-acquires-trello/</a:t>
            </a:r>
            <a:endParaRPr lang="en-US" sz="125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C" sz="1250" b="0" i="0" u="none" strike="noStrike" dirty="0">
                <a:solidFill>
                  <a:srgbClr val="1F2328"/>
                </a:solidFill>
                <a:effectLst/>
                <a:latin typeface="Mona Sans VF"/>
              </a:rPr>
              <a:t>A diferencia de Trello, que monetizó exitosamente el mercado empresarial (B2B) vendiendo seguridad y escalabilidad a equipos corporativos, Wunderlist nunca logró crear un puente sólido hacia el sector B2B.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475488" cy="475488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2377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Adaptación al Ecuador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65836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sección 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097280"/>
            <a:ext cx="2606040" cy="3337560"/>
          </a:xfrm>
          <a:prstGeom prst="rect">
            <a:avLst/>
          </a:prstGeom>
          <a:solidFill>
            <a:srgbClr val="FFF4DC"/>
          </a:solidFill>
          <a:ln w="12700">
            <a:solidFill>
              <a:srgbClr val="E8C7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216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572768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Tres restricciones locales concretas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Cada una con su efecto en el negocio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Una que cambió el modelo, y qué cambió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Enlace a la sección 3 de la ficha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4572000"/>
            <a:ext cx="8412480" cy="0"/>
          </a:xfrm>
          <a:prstGeom prst="line">
            <a:avLst/>
          </a:prstGeom>
          <a:noFill/>
          <a:ln w="9525">
            <a:solidFill>
              <a:srgbClr val="BFC7D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46451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sección 3: 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https://github.com/uleam-web-2026-2/Notix-Proyect/blob/main/docs/hito1_ficha_del_negocio.md#3-adaptaci%C3%B3n-al-ecuador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1097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Restricción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1097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en el negocio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65760" y="1490472"/>
            <a:ext cx="365760" cy="365760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5760" y="1490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68680" y="1417320"/>
            <a:ext cx="5074920" cy="530352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  <p:txBody>
          <a:bodyPr/>
          <a:lstStyle/>
          <a:p>
            <a:r>
              <a:rPr lang="es-EC" sz="1250" dirty="0"/>
              <a:t>Verificar permisos de autorizaciones</a:t>
            </a:r>
          </a:p>
        </p:txBody>
      </p:sp>
      <p:sp>
        <p:nvSpPr>
          <p:cNvPr id="19" name="Text 16"/>
          <p:cNvSpPr txBox="1"/>
          <p:nvPr/>
        </p:nvSpPr>
        <p:spPr>
          <a:xfrm>
            <a:off x="3246120" y="1490472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3474720" y="147218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no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controlarse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se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incurre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pone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65760" y="2148840"/>
            <a:ext cx="365760" cy="365760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57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68680" y="2075688"/>
            <a:ext cx="5074920" cy="530352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Sistema.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3246120" y="21488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474720" y="2103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/>
              <a:t>Tener </a:t>
            </a:r>
            <a:r>
              <a:rPr lang="en-US" sz="1250" dirty="0" err="1"/>
              <a:t>en</a:t>
            </a:r>
            <a:r>
              <a:rPr lang="en-US" sz="1250" dirty="0"/>
              <a:t> </a:t>
            </a:r>
            <a:r>
              <a:rPr lang="en-US" sz="1250" dirty="0" err="1"/>
              <a:t>cuenta</a:t>
            </a:r>
            <a:r>
              <a:rPr lang="en-US" sz="1250" dirty="0"/>
              <a:t> las </a:t>
            </a:r>
            <a:r>
              <a:rPr lang="en-US" sz="1250" dirty="0" err="1"/>
              <a:t>configuraciones</a:t>
            </a:r>
            <a:r>
              <a:rPr lang="en-US" sz="1250" dirty="0"/>
              <a:t> de </a:t>
            </a:r>
            <a:r>
              <a:rPr lang="en-US" sz="1250" dirty="0" err="1"/>
              <a:t>privacidad</a:t>
            </a:r>
            <a:r>
              <a:rPr lang="en-US" sz="1250" dirty="0"/>
              <a:t> para no </a:t>
            </a:r>
            <a:r>
              <a:rPr lang="en-US" sz="1250" dirty="0" err="1"/>
              <a:t>exponer</a:t>
            </a:r>
            <a:r>
              <a:rPr lang="en-US" sz="1250" dirty="0"/>
              <a:t> </a:t>
            </a:r>
            <a:r>
              <a:rPr lang="en-US" sz="1250" dirty="0" err="1"/>
              <a:t>datos</a:t>
            </a:r>
            <a:r>
              <a:rPr lang="en-US" sz="1250" dirty="0"/>
              <a:t> </a:t>
            </a:r>
            <a:r>
              <a:rPr lang="en-US" sz="1250" dirty="0" err="1"/>
              <a:t>personales</a:t>
            </a:r>
            <a:r>
              <a:rPr lang="en-US" sz="1250" dirty="0"/>
              <a:t>.</a:t>
            </a:r>
          </a:p>
        </p:txBody>
      </p:sp>
      <p:sp>
        <p:nvSpPr>
          <p:cNvPr id="27" name="Shape 24"/>
          <p:cNvSpPr/>
          <p:nvPr/>
        </p:nvSpPr>
        <p:spPr>
          <a:xfrm>
            <a:off x="365760" y="2807208"/>
            <a:ext cx="365760" cy="365760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868680" y="2734056"/>
            <a:ext cx="5074920" cy="530352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05840" y="28072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Accesos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Autorizados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246120" y="2807208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3520440" y="2770811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que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tenerse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LOPDP (Art. 38 y 40) para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accesos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</a:t>
            </a:r>
            <a:r>
              <a:rPr lang="en-US" sz="12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autorizados</a:t>
            </a: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365760" y="3474720"/>
            <a:ext cx="557784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3D6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8640" y="359359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</a:t>
            </a:r>
            <a:r>
              <a:rPr lang="en-US" sz="1250" b="1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 la </a:t>
            </a:r>
            <a:r>
              <a:rPr lang="en-US" sz="1250" b="1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restricción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 y 2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36" name="Rectangle 3">
            <a:extLst>
              <a:ext uri="{FF2B5EF4-FFF2-40B4-BE49-F238E27FC236}">
                <a16:creationId xmlns:a16="http://schemas.microsoft.com/office/drawing/2014/main" id="{3353F943-61F1-4489-B605-DC31C0D6F834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502919" y="3815577"/>
            <a:ext cx="5394959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419" altLang="es-419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 agregó la entidad </a:t>
            </a:r>
            <a:r>
              <a:rPr kumimoji="0" lang="es-419" altLang="es-419" sz="11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TableroCompartido</a:t>
            </a:r>
            <a:r>
              <a:rPr kumimoji="0" lang="es-419" altLang="es-419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 atributos para el tipo de permiso (</a:t>
            </a:r>
            <a:r>
              <a:rPr kumimoji="0" lang="es-419" altLang="es-419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RolEnTablero</a:t>
            </a:r>
            <a:r>
              <a:rPr kumimoji="0" lang="es-419" altLang="es-419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y el estado de la vinculación (</a:t>
            </a:r>
            <a:r>
              <a:rPr kumimoji="0" lang="es-419" altLang="es-419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EstadoInvitacion</a:t>
            </a:r>
            <a:r>
              <a:rPr kumimoji="0" lang="es-419" altLang="es-419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), permitiendo al </a:t>
            </a:r>
            <a:r>
              <a:rPr kumimoji="0" lang="es-419" altLang="es-419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backend</a:t>
            </a:r>
            <a:r>
              <a:rPr kumimoji="0" lang="es-419" altLang="es-419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validar el acceso explícito de cada usuario antes de mostrar o modificar notas</a:t>
            </a:r>
            <a:r>
              <a:rPr kumimoji="0" lang="es-419" altLang="es-419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35" name="Text 4">
            <a:extLst>
              <a:ext uri="{FF2B5EF4-FFF2-40B4-BE49-F238E27FC236}">
                <a16:creationId xmlns:a16="http://schemas.microsoft.com/office/drawing/2014/main" id="{C45184D2-780B-710B-9C75-6CEF2875955F}"/>
              </a:ext>
            </a:extLst>
          </p:cNvPr>
          <p:cNvSpPr txBox="1"/>
          <p:nvPr/>
        </p:nvSpPr>
        <p:spPr>
          <a:xfrm>
            <a:off x="5669280" y="320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Pareja [número] · </a:t>
            </a:r>
            <a:r>
              <a:rPr lang="en-US" sz="11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García·García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475488" cy="475488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2377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672882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sección 4 · los structs van en la ficha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097280"/>
            <a:ext cx="2606040" cy="3337560"/>
          </a:xfrm>
          <a:prstGeom prst="rect">
            <a:avLst/>
          </a:prstGeom>
          <a:solidFill>
            <a:srgbClr val="FFF4DC"/>
          </a:solidFill>
          <a:ln w="12700">
            <a:solidFill>
              <a:srgbClr val="E8C7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216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572768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Hasta seis entidades, con sus atributos clave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Relaciones con su cardinalidad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Enlace al diagrama completo del modelo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Enlace a la sección 4 de la ficha, donde están los structs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4572000"/>
            <a:ext cx="8412480" cy="0"/>
          </a:xfrm>
          <a:prstGeom prst="line">
            <a:avLst/>
          </a:prstGeom>
          <a:noFill/>
          <a:ln w="9525">
            <a:solidFill>
              <a:srgbClr val="BFC7D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46451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sección 4:  </a:t>
            </a:r>
            <a:r>
              <a:rPr lang="en-US" sz="8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https://github.com/uleam-web-2026-2/Notix-Proyect/blob/main/docs/hito1_ficha_del_negocio.md#4-modelo-de-datos  ·   </a:t>
            </a:r>
            <a:r>
              <a:rPr lang="en-US" sz="85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</a:t>
            </a:r>
            <a:r>
              <a:rPr lang="en-US" sz="8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https://github.com/uleam-web-2026-2/Notix-Proyect/blob/main/docs/hito1_ficha_del_negocio.md#diagrama-del-modelo-completo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107899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· 6 entidades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65760" y="1371600"/>
            <a:ext cx="1737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65760" y="1371600"/>
            <a:ext cx="1737360" cy="256032"/>
          </a:xfrm>
          <a:prstGeom prst="rect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8912" y="137160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chemeClr val="bg1"/>
                </a:solidFill>
              </a:rPr>
              <a:t>Usuario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438912" y="168249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240280" y="1371600"/>
            <a:ext cx="1737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240280" y="1371600"/>
            <a:ext cx="1737360" cy="256032"/>
          </a:xfrm>
          <a:prstGeom prst="rect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313432" y="137160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313432" y="1672971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creado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hora</a:t>
            </a:r>
          </a:p>
          <a:p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0" y="1371600"/>
            <a:ext cx="1737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114800" y="1371600"/>
            <a:ext cx="1737360" cy="256032"/>
          </a:xfrm>
          <a:prstGeom prst="rect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87952" y="137160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87952" y="168249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65760" y="2423159"/>
            <a:ext cx="1737360" cy="1143001"/>
          </a:xfrm>
          <a:prstGeom prst="rect">
            <a:avLst/>
          </a:prstGeom>
          <a:solidFill>
            <a:srgbClr val="FFFFFF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65760" y="2423160"/>
            <a:ext cx="1737360" cy="256032"/>
          </a:xfrm>
          <a:prstGeom prst="rect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38912" y="242316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38912" y="273405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de: pendiente, </a:t>
            </a:r>
            <a:r>
              <a:rPr lang="es-E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en_proceso</a:t>
            </a:r>
            <a:r>
              <a:rPr lang="es-E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completado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2240280" y="2423160"/>
            <a:ext cx="1737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240280" y="2423160"/>
            <a:ext cx="1737360" cy="256032"/>
          </a:xfrm>
          <a:prstGeom prst="rect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313432" y="242316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chemeClr val="bg1"/>
                </a:solidFill>
              </a:rPr>
              <a:t>TableroCompartido</a:t>
            </a:r>
            <a:endParaRPr lang="en-US" sz="1100" b="1" dirty="0">
              <a:solidFill>
                <a:schemeClr val="bg1"/>
              </a:solidFill>
            </a:endParaRPr>
          </a:p>
        </p:txBody>
      </p:sp>
      <p:sp>
        <p:nvSpPr>
          <p:cNvPr id="33" name="Text 30"/>
          <p:cNvSpPr txBox="1"/>
          <p:nvPr/>
        </p:nvSpPr>
        <p:spPr>
          <a:xfrm>
            <a:off x="2313432" y="273405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estado_invitacion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uno de:       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revocado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rol_en_tablero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uno de: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hora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114800" y="2423160"/>
            <a:ext cx="1737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114800" y="2423160"/>
            <a:ext cx="1737360" cy="256032"/>
          </a:xfrm>
          <a:prstGeom prst="rect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87952" y="242316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187952" y="273405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creado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hora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365760" y="370332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</a:t>
            </a:r>
            <a:r>
              <a:rPr lang="en-US" sz="10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s-ES" sz="10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1—N Tablero · Tablero 1—N Columna · Columna 1—N Tarea · Usuario 1—N Tarea · Tablero 1—N </a:t>
            </a:r>
            <a:r>
              <a:rPr lang="es-ES" sz="10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TableroCompartido</a:t>
            </a:r>
            <a:r>
              <a:rPr lang="es-ES" sz="10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Usuario 1—N </a:t>
            </a:r>
            <a:r>
              <a:rPr lang="es-ES" sz="10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TableroCompartido</a:t>
            </a:r>
            <a:r>
              <a:rPr lang="es-ES" sz="10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Tarea 1—N Comentario · Usuario 1—N Comentario</a:t>
            </a:r>
            <a:endParaRPr lang="en-US" sz="1050" dirty="0"/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F4DEDCB0-1E2F-5AAF-F049-92D4E94BEC05}"/>
              </a:ext>
            </a:extLst>
          </p:cNvPr>
          <p:cNvSpPr txBox="1"/>
          <p:nvPr/>
        </p:nvSpPr>
        <p:spPr>
          <a:xfrm>
            <a:off x="5669280" y="274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Pareja [número] · </a:t>
            </a:r>
            <a:r>
              <a:rPr lang="en-US" sz="11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García·García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475488" cy="475488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2377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estados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65836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sección 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097280"/>
            <a:ext cx="2606040" cy="3337560"/>
          </a:xfrm>
          <a:prstGeom prst="rect">
            <a:avLst/>
          </a:prstGeom>
          <a:solidFill>
            <a:srgbClr val="FFF4DC"/>
          </a:solidFill>
          <a:ln w="12700">
            <a:solidFill>
              <a:srgbClr val="E8C7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216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572768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Tres o más estados, con el inicial marcado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Tabla de transiciones con quién y con qué condición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Una transición prohibida y su razón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Enlace al diagrama de estados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Enlace a la sección 5 de la ficha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4572000"/>
            <a:ext cx="8412480" cy="0"/>
          </a:xfrm>
          <a:prstGeom prst="line">
            <a:avLst/>
          </a:prstGeom>
          <a:noFill/>
          <a:ln w="9525">
            <a:solidFill>
              <a:srgbClr val="BFC7D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46451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sección 5:  </a:t>
            </a:r>
            <a:r>
              <a:rPr lang="en-US" sz="8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https://github.com/uleam-web-2026-2/Notix-Proyect/blob/main/docs/hito1_ficha_del_negocio.md#5-m%C3%A1quina-de-estados   ·   Diagrama: https://github.com/uleam-web-2026-2/Notix-Proyect/blob/main/docs/hito1_ficha_del_negocio.md#diagrama-de-estados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10789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de </a:t>
            </a:r>
            <a:r>
              <a:rPr lang="en-US" sz="1150" b="1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1463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1463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303020" y="1965960"/>
            <a:ext cx="0" cy="457200"/>
          </a:xfrm>
          <a:prstGeom prst="line">
            <a:avLst/>
          </a:prstGeom>
          <a:noFill/>
          <a:ln w="19050">
            <a:solidFill>
              <a:srgbClr val="1A3D6D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1394459" y="2057400"/>
            <a:ext cx="1272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</a:t>
            </a: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</a:t>
            </a: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0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</a:t>
            </a: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0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42316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E8EEF6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" y="24231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en_proceso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1303020" y="2926080"/>
            <a:ext cx="0" cy="457200"/>
          </a:xfrm>
          <a:prstGeom prst="line">
            <a:avLst/>
          </a:prstGeom>
          <a:noFill/>
          <a:ln w="19050">
            <a:solidFill>
              <a:srgbClr val="1A3D6D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139446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</a:t>
            </a: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0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338328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E8EEF6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7200" y="33832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12618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2148840" y="3634740"/>
            <a:ext cx="201168" cy="0"/>
          </a:xfrm>
          <a:prstGeom prst="line">
            <a:avLst/>
          </a:prstGeom>
          <a:noFill/>
          <a:ln w="19050">
            <a:solidFill>
              <a:srgbClr val="C5221F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2350008" y="1714500"/>
            <a:ext cx="0" cy="1920240"/>
          </a:xfrm>
          <a:prstGeom prst="line">
            <a:avLst/>
          </a:prstGeom>
          <a:noFill/>
          <a:ln w="19050">
            <a:solidFill>
              <a:srgbClr val="C5221F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flipH="1">
            <a:off x="2148840" y="1714500"/>
            <a:ext cx="201168" cy="0"/>
          </a:xfrm>
          <a:prstGeom prst="line">
            <a:avLst/>
          </a:prstGeom>
          <a:noFill/>
          <a:ln w="19050">
            <a:solidFill>
              <a:srgbClr val="C5221F"/>
            </a:solidFill>
            <a:prstDash val="dash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240280" y="2537460"/>
            <a:ext cx="21945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384498"/>
              </p:ext>
            </p:extLst>
          </p:nvPr>
        </p:nvGraphicFramePr>
        <p:xfrm>
          <a:off x="2592324" y="1113685"/>
          <a:ext cx="3525009" cy="1915668"/>
        </p:xfrm>
        <a:graphic>
          <a:graphicData uri="http://schemas.openxmlformats.org/drawingml/2006/table">
            <a:tbl>
              <a:tblPr/>
              <a:tblGrid>
                <a:gridCol w="661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3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40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7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Quién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Condición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dirty="0" err="1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 err="1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en_proceso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Propietario o Colaborador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950" dirty="0">
                          <a:effectLst/>
                        </a:rPr>
                        <a:t>Iniciar la ejecución de la tarea asignada.</a:t>
                      </a:r>
                    </a:p>
                  </a:txBody>
                  <a:tcPr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en_proceso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dirty="0" err="1">
                          <a:latin typeface="Calibri" charset="0"/>
                          <a:ea typeface="Calibri" charset="0"/>
                          <a:cs typeface="Calibri" charset="0"/>
                        </a:rPr>
                        <a:t>pendiente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950" dirty="0">
                          <a:effectLst/>
                        </a:rPr>
                        <a:t>Propietario o Colaborador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950" dirty="0">
                          <a:effectLst/>
                        </a:rPr>
                        <a:t>Confirmar la finalización total del contenido de la tarea.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05167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 err="1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 err="1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en_proceso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Propietario o Colaborador</a:t>
                      </a: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C" sz="950" dirty="0"/>
                        <a:t>Reabrir la tarea por correcciones, cambios o revisión requerida.</a:t>
                      </a:r>
                    </a:p>
                  </a:txBody>
                  <a:tcPr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3017520" y="3081528"/>
            <a:ext cx="292608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5221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154680" y="320040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Transición prohibida</a:t>
            </a:r>
            <a:endParaRPr lang="en-US" sz="1050" dirty="0"/>
          </a:p>
          <a:p>
            <a:pPr marL="0" indent="0">
              <a:buNone/>
            </a:pPr>
            <a:r>
              <a:rPr lang="es-ES" sz="10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pendiente no se puede pasar directamente a completado.</a:t>
            </a:r>
          </a:p>
          <a:p>
            <a:pPr marL="0" indent="0">
              <a:buNone/>
            </a:pPr>
            <a:r>
              <a:rPr lang="es-ES" sz="1050" dirty="0"/>
              <a:t>En la metodología Kanban, una tarea no puede considerarse finalizada sin haber pasado obligatoriamente por la fase de ejecución (</a:t>
            </a:r>
            <a:r>
              <a:rPr lang="es-ES" sz="1050" dirty="0" err="1"/>
              <a:t>en_proceso</a:t>
            </a:r>
            <a:r>
              <a:rPr lang="es-ES" sz="1050" dirty="0"/>
              <a:t>).</a:t>
            </a:r>
            <a:endParaRPr lang="en-US" sz="1050" dirty="0"/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C20A958B-2BA6-27D6-4EAC-D6AF974B559A}"/>
              </a:ext>
            </a:extLst>
          </p:cNvPr>
          <p:cNvSpPr txBox="1"/>
          <p:nvPr/>
        </p:nvSpPr>
        <p:spPr>
          <a:xfrm>
            <a:off x="5669280" y="274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Pareja [número] · </a:t>
            </a:r>
            <a:r>
              <a:rPr lang="en-US" sz="11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García·García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475488" cy="475488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2377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y pantallas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65836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secciones 6 y 7 · lo demás va en el addendum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097280"/>
            <a:ext cx="2606040" cy="3337560"/>
          </a:xfrm>
          <a:prstGeom prst="rect">
            <a:avLst/>
          </a:prstGeom>
          <a:solidFill>
            <a:srgbClr val="FFF4DC"/>
          </a:solidFill>
          <a:ln w="12700">
            <a:solidFill>
              <a:srgbClr val="E8C7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216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572768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Cuatro a seis endpoints, con verbo y ruta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El rol que llama a cada uno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La pantalla que lo consume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Código cuando sale bien y cuando falla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Captura de una respuesta real con su código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Enlace a la sección 7 de la ficha y al addendum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4572000"/>
            <a:ext cx="8412480" cy="0"/>
          </a:xfrm>
          <a:prstGeom prst="line">
            <a:avLst/>
          </a:prstGeom>
          <a:noFill/>
          <a:ln w="9525">
            <a:solidFill>
              <a:srgbClr val="BFC7D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46451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secciones 6 y 7: </a:t>
            </a:r>
            <a:r>
              <a:rPr lang="en-US" sz="850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</a:t>
            </a:r>
            <a:r>
              <a:rPr lang="en-US" sz="850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</a:t>
            </a:r>
            <a:r>
              <a:rPr lang="en-US" sz="850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/uleam-web-2026-2/</a:t>
            </a:r>
            <a:r>
              <a:rPr lang="en-US" sz="850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Notix-Proyect</a:t>
            </a:r>
            <a:r>
              <a:rPr lang="en-US" sz="850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/blob/main/docs/hito1_ficha_del_negocio.md#7-mapa-de-endpoints-por-rol</a:t>
            </a:r>
            <a:r>
              <a:rPr lang="en-US" sz="8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Addendum: https://</a:t>
            </a:r>
            <a:r>
              <a:rPr lang="en-US" sz="85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</a:t>
            </a:r>
            <a:r>
              <a:rPr lang="en-US" sz="8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/uleam-web-2026-2/</a:t>
            </a:r>
            <a:r>
              <a:rPr lang="en-US" sz="85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Notix-Proyect</a:t>
            </a:r>
            <a:r>
              <a:rPr lang="en-US" sz="8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/blob/main/docs/hito1_addendum.md#hito-1--addendum-</a:t>
            </a:r>
            <a:r>
              <a:rPr lang="en-US" sz="85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492555"/>
              </p:ext>
            </p:extLst>
          </p:nvPr>
        </p:nvGraphicFramePr>
        <p:xfrm>
          <a:off x="365760" y="881589"/>
          <a:ext cx="5577840" cy="2397252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Pantalla que lo consume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POST /tareas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>
                          <a:effectLst/>
                        </a:rPr>
                        <a:t>propietario, colaborador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Ventana Nueva Tarea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 Created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GET /tableros/[id]/tareas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>
                          <a:effectLst/>
                        </a:rPr>
                        <a:t>propietario, colaborador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Vista principal del Tablero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PATCH /tareas/[id]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>
                          <a:effectLst/>
                        </a:rPr>
                        <a:t>propietario, colaborador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Ventana Editar Tarea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403</a:t>
                      </a:r>
                      <a:endParaRPr lang="es-EC" sz="950" dirty="0"/>
                    </a:p>
                  </a:txBody>
                  <a:tcPr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PATCH /tareas/[id]/estado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>
                          <a:effectLst/>
                        </a:rPr>
                        <a:t>propietario, colaborador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Vista principal del Tablero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409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DELETE /tareas/[id]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propietario, colaborador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Botón Eliminar Tarea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OK o 204 no content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950" dirty="0">
                          <a:effectLst/>
                        </a:rPr>
                        <a:t>403</a:t>
                      </a:r>
                      <a:endParaRPr lang="es-EC" sz="950" dirty="0"/>
                    </a:p>
                  </a:txBody>
                  <a:tcPr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365760" y="3224424"/>
            <a:ext cx="3200400" cy="1298359"/>
          </a:xfrm>
          <a:prstGeom prst="rect">
            <a:avLst/>
          </a:prstGeom>
          <a:solidFill>
            <a:srgbClr val="F3F4F6"/>
          </a:solidFill>
          <a:ln w="9525">
            <a:solidFill>
              <a:srgbClr val="BFC7D3"/>
            </a:solidFill>
            <a:prstDash val="dash"/>
          </a:ln>
        </p:spPr>
      </p:sp>
      <p:sp>
        <p:nvSpPr>
          <p:cNvPr id="16" name="Shape 12"/>
          <p:cNvSpPr/>
          <p:nvPr/>
        </p:nvSpPr>
        <p:spPr>
          <a:xfrm>
            <a:off x="3749040" y="3398430"/>
            <a:ext cx="2194560" cy="1036410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886200" y="3508158"/>
            <a:ext cx="1920240" cy="816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addendum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Structs y estructura de carpetas · pruebas con su captura · variables de entorno · boceto de la pantalla principal · diagrama de secuencia.</a:t>
            </a:r>
            <a:endParaRPr lang="en-US" sz="100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7E9E8275-9B0E-7364-FE09-6A39887AE56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4954" b="19526"/>
          <a:stretch/>
        </p:blipFill>
        <p:spPr>
          <a:xfrm>
            <a:off x="693646" y="3249439"/>
            <a:ext cx="2685554" cy="1241431"/>
          </a:xfrm>
          <a:prstGeom prst="rect">
            <a:avLst/>
          </a:prstGeom>
        </p:spPr>
      </p:pic>
      <p:sp>
        <p:nvSpPr>
          <p:cNvPr id="19" name="Text 4">
            <a:extLst>
              <a:ext uri="{FF2B5EF4-FFF2-40B4-BE49-F238E27FC236}">
                <a16:creationId xmlns:a16="http://schemas.microsoft.com/office/drawing/2014/main" id="{B98721F6-7309-94DB-D9D1-D97D2C4C2977}"/>
              </a:ext>
            </a:extLst>
          </p:cNvPr>
          <p:cNvSpPr txBox="1"/>
          <p:nvPr/>
        </p:nvSpPr>
        <p:spPr>
          <a:xfrm>
            <a:off x="5669280" y="274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Pareja [número] · </a:t>
            </a:r>
            <a:r>
              <a:rPr lang="en-US" sz="11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García·García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1605</Words>
  <Application>Microsoft Macintosh PowerPoint</Application>
  <PresentationFormat>Presentación en pantalla (16:9)</PresentationFormat>
  <Paragraphs>177</Paragraphs>
  <Slides>5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Arial Unicode MS</vt:lpstr>
      <vt:lpstr>Arial</vt:lpstr>
      <vt:lpstr>Calibri</vt:lpstr>
      <vt:lpstr>Mona Sans VF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Hito 1 Servidor · Plantilla de diapositivas</dc:title>
  <dc:subject>PptxGenJS Presentation</dc:subject>
  <dc:creator>PptxGenJS</dc:creator>
  <cp:lastModifiedBy>familiapenarrieta3@gmail.com</cp:lastModifiedBy>
  <cp:revision>8</cp:revision>
  <dcterms:created xsi:type="dcterms:W3CDTF">2026-09-19T00:15:18Z</dcterms:created>
  <dcterms:modified xsi:type="dcterms:W3CDTF">2026-10-01T04:57:26Z</dcterms:modified>
</cp:coreProperties>
</file>